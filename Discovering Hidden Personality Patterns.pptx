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embeddedFontLst>
    <p:embeddedFont>
      <p:font typeface="Urbanist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6" y="5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90500" y="1695450"/>
            <a:ext cx="118110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Discovering Hidden Personality Patterns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605087" y="3714750"/>
            <a:ext cx="69818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Applying K-Means Clustering to the Big Five Personality Test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133975" y="4591050"/>
            <a:ext cx="19240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By: Sushma Suresh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0862" y="2282130"/>
            <a:ext cx="5705662" cy="363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0797" y="2316114"/>
            <a:ext cx="4334199" cy="355485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62025" y="2882205"/>
            <a:ext cx="47307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The OCEAN Model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24650" y="2882205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Project Goal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67687" y="3453283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Goal: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To use unsupervised learning to find natural personality clusters from over 1 million test responses, without any predefined labels.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1200149" y="3387030"/>
            <a:ext cx="528637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O - Openness: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Curiosity, creativity, and interest in new ideas.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1188769" y="3683234"/>
            <a:ext cx="504825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C - Conscientiousness: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Organization, responsibility, and discipline.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1200149" y="3939630"/>
            <a:ext cx="5468947" cy="946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E - Extraversion: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Sociability, assertiveness, and emotional expression.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50" dirty="0">
              <a:solidFill>
                <a:srgbClr val="334155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1188769" y="4209345"/>
            <a:ext cx="4791301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A - Agreeableness: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Kindness, cooperation, and empathy.</a:t>
            </a:r>
            <a:endParaRPr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571500" y="88761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B132B"/>
                </a:solidFill>
                <a:latin typeface="Urbanist"/>
                <a:ea typeface="Urbanist"/>
                <a:cs typeface="Urbanist"/>
                <a:sym typeface="Urbanist"/>
              </a:rPr>
              <a:t>What is the Big Five (OCEAN)?</a:t>
            </a:r>
            <a:endParaRPr/>
          </a:p>
        </p:txBody>
      </p:sp>
      <p:sp>
        <p:nvSpPr>
          <p:cNvPr id="2" name="Google Shape;104;p14">
            <a:extLst>
              <a:ext uri="{FF2B5EF4-FFF2-40B4-BE49-F238E27FC236}">
                <a16:creationId xmlns:a16="http://schemas.microsoft.com/office/drawing/2014/main" id="{10CED466-8FE4-6A3F-91E0-7DADB48B47EA}"/>
              </a:ext>
            </a:extLst>
          </p:cNvPr>
          <p:cNvSpPr txBox="1"/>
          <p:nvPr/>
        </p:nvSpPr>
        <p:spPr>
          <a:xfrm>
            <a:off x="1227523" y="4457946"/>
            <a:ext cx="52959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N - Neuroticism: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Emotional instability, anxiety, and moodiness.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71500" y="2844105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>
                <a:solidFill>
                  <a:srgbClr val="3B82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1M+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4272855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Total Participants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619875" y="3148905"/>
            <a:ext cx="525065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B132B"/>
                </a:solidFill>
                <a:latin typeface="Urbanist"/>
                <a:ea typeface="Urbanist"/>
                <a:cs typeface="Urbanist"/>
                <a:sym typeface="Urbanist"/>
              </a:rPr>
              <a:t>Dataset Overview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829425" y="370135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858000" y="3701355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Source: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Kaggle "Big Five Personality Test"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829425" y="410140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858000" y="4101405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Data: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50 core personality questions (10 for each OCEAN trait).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829425" y="450145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858000" y="4501455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Scale: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Responses were recorded on a 5-point Likert scale, from 1 (Disagree) to 5 (Agree).</a:t>
            </a:r>
            <a:endParaRPr dirty="0"/>
          </a:p>
        </p:txBody>
      </p:sp>
      <p:sp>
        <p:nvSpPr>
          <p:cNvPr id="125" name="Google Shape;125;p15"/>
          <p:cNvSpPr txBox="1"/>
          <p:nvPr/>
        </p:nvSpPr>
        <p:spPr>
          <a:xfrm>
            <a:off x="571500" y="88761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B132B"/>
                </a:solidFill>
                <a:latin typeface="Urbanist"/>
                <a:ea typeface="Urbanist"/>
                <a:cs typeface="Urbanist"/>
                <a:sym typeface="Urbanist"/>
              </a:rPr>
              <a:t>A Massive Global Dataset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2286000" y="2643485"/>
            <a:ext cx="8096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B132B"/>
                </a:solidFill>
                <a:latin typeface="Urbanist"/>
                <a:ea typeface="Urbanist"/>
                <a:cs typeface="Urbanist"/>
                <a:sym typeface="Urbanist"/>
              </a:rPr>
              <a:t>Cleaning: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Dropped irrelevant columns (e.g., time spent per question, IP info) and removed all rows with missing values to create a clean dataset.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2286000" y="3551932"/>
            <a:ext cx="8096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B132B"/>
                </a:solidFill>
                <a:latin typeface="Urbanist"/>
                <a:ea typeface="Urbanist"/>
                <a:cs typeface="Urbanist"/>
                <a:sym typeface="Urbanist"/>
              </a:rPr>
              <a:t>Reverse-Scoring: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Flipped the scores for all negatively-worded questions (e.g., "I don't talk a lot") so that a high score always indicated a high level of that trait.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2286000" y="4460378"/>
            <a:ext cx="8096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B132B"/>
                </a:solidFill>
                <a:latin typeface="Urbanist"/>
                <a:ea typeface="Urbanist"/>
                <a:cs typeface="Urbanist"/>
                <a:sym typeface="Urbanist"/>
              </a:rPr>
              <a:t>Scaling: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Applied a `MinMaxScaler` to all 50 numeric features. This normalized all responses to a standard 0-1 range, which is essential for K-Means.</a:t>
            </a:r>
            <a:endParaRPr/>
          </a:p>
        </p:txBody>
      </p:sp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69111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4508003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571500" y="88761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B132B"/>
                </a:solidFill>
                <a:latin typeface="Urbanist"/>
                <a:ea typeface="Urbanist"/>
                <a:cs typeface="Urbanist"/>
                <a:sym typeface="Urbanist"/>
              </a:rPr>
              <a:t>Data Preparation &amp; Processing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944629" y="7532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11994"/>
            <a:ext cx="5286375" cy="418832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2216794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B132B"/>
                </a:solidFill>
                <a:latin typeface="Urbanist"/>
                <a:ea typeface="Urbanist"/>
                <a:cs typeface="Urbanist"/>
                <a:sym typeface="Urbanist"/>
              </a:rPr>
              <a:t>Identifying Response Patterns</a:t>
            </a:r>
            <a:endParaRPr dirty="0"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3084107"/>
            <a:ext cx="528637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/>
              <a:t>* Data distribution of all the countries </a:t>
            </a:r>
            <a:endParaRPr dirty="0"/>
          </a:p>
        </p:txBody>
      </p:sp>
      <p:sp>
        <p:nvSpPr>
          <p:cNvPr id="145" name="Google Shape;145;p17"/>
          <p:cNvSpPr txBox="1"/>
          <p:nvPr/>
        </p:nvSpPr>
        <p:spPr>
          <a:xfrm>
            <a:off x="781050" y="3455044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3450728"/>
            <a:ext cx="50482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* Exploratory Data Analysis (EDA) involved plotting the response distributions for all 50 questions.</a:t>
            </a:r>
            <a:endParaRPr lang="en-US" dirty="0"/>
          </a:p>
        </p:txBody>
      </p:sp>
      <p:sp>
        <p:nvSpPr>
          <p:cNvPr id="147" name="Google Shape;147;p17"/>
          <p:cNvSpPr txBox="1"/>
          <p:nvPr/>
        </p:nvSpPr>
        <p:spPr>
          <a:xfrm>
            <a:off x="781050" y="4369444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09625" y="4369444"/>
            <a:ext cx="50482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	</a:t>
            </a:r>
            <a:endParaRPr dirty="0"/>
          </a:p>
        </p:txBody>
      </p:sp>
      <p:sp>
        <p:nvSpPr>
          <p:cNvPr id="150" name="Google Shape;150;p17"/>
          <p:cNvSpPr txBox="1"/>
          <p:nvPr/>
        </p:nvSpPr>
        <p:spPr>
          <a:xfrm>
            <a:off x="571500" y="88761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B132B"/>
                </a:solidFill>
                <a:latin typeface="Urbanist"/>
                <a:ea typeface="Urbanist"/>
                <a:cs typeface="Urbanist"/>
                <a:sym typeface="Urbanist"/>
              </a:rPr>
              <a:t>EDA: Understanding Trait Distributions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1B7E89-8626-BD83-C962-9C286DDC7E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0" y="1434566"/>
            <a:ext cx="6158055" cy="49136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554FE9-37AB-8BD0-7D07-341AE55AF7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896" y="4304549"/>
            <a:ext cx="5416100" cy="2256133"/>
          </a:xfrm>
          <a:prstGeom prst="rect">
            <a:avLst/>
          </a:prstGeom>
        </p:spPr>
      </p:pic>
      <p:sp>
        <p:nvSpPr>
          <p:cNvPr id="9" name="Google Shape;143;p17">
            <a:extLst>
              <a:ext uri="{FF2B5EF4-FFF2-40B4-BE49-F238E27FC236}">
                <a16:creationId xmlns:a16="http://schemas.microsoft.com/office/drawing/2014/main" id="{BE32918D-F914-BE9E-C123-A5A8A232E020}"/>
              </a:ext>
            </a:extLst>
          </p:cNvPr>
          <p:cNvSpPr txBox="1"/>
          <p:nvPr/>
        </p:nvSpPr>
        <p:spPr>
          <a:xfrm>
            <a:off x="2585148" y="3963639"/>
            <a:ext cx="14819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B132B"/>
                </a:solidFill>
                <a:latin typeface="Urbanist"/>
                <a:ea typeface="Urbanist"/>
                <a:cs typeface="Urbanist"/>
                <a:sym typeface="Urbanist"/>
              </a:rPr>
              <a:t>Openness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07E9FA-143D-22B4-A896-D74860DBC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32" y="339478"/>
            <a:ext cx="5643299" cy="25566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3B6C59-615F-20EF-3768-E44591AB5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96182"/>
            <a:ext cx="5845923" cy="23999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8FD16B-AB09-A816-C351-2DD3368E1A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291" y="3305429"/>
            <a:ext cx="5900709" cy="23875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222002-0C73-753F-C86C-E05D6C46CE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121005"/>
            <a:ext cx="6021169" cy="2670291"/>
          </a:xfrm>
          <a:prstGeom prst="rect">
            <a:avLst/>
          </a:prstGeom>
        </p:spPr>
      </p:pic>
      <p:sp>
        <p:nvSpPr>
          <p:cNvPr id="10" name="Google Shape;143;p17">
            <a:extLst>
              <a:ext uri="{FF2B5EF4-FFF2-40B4-BE49-F238E27FC236}">
                <a16:creationId xmlns:a16="http://schemas.microsoft.com/office/drawing/2014/main" id="{29155DFE-5ADB-4EB5-27DD-A8CA3A4803DC}"/>
              </a:ext>
            </a:extLst>
          </p:cNvPr>
          <p:cNvSpPr txBox="1"/>
          <p:nvPr/>
        </p:nvSpPr>
        <p:spPr>
          <a:xfrm>
            <a:off x="1750718" y="0"/>
            <a:ext cx="2572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B132B"/>
                </a:solidFill>
                <a:latin typeface="Urbanist"/>
                <a:ea typeface="Urbanist"/>
                <a:cs typeface="Urbanist"/>
                <a:sym typeface="Urbanist"/>
              </a:rPr>
              <a:t>Conscientiousness</a:t>
            </a:r>
            <a:endParaRPr dirty="0"/>
          </a:p>
        </p:txBody>
      </p:sp>
      <p:sp>
        <p:nvSpPr>
          <p:cNvPr id="11" name="Google Shape;143;p17">
            <a:extLst>
              <a:ext uri="{FF2B5EF4-FFF2-40B4-BE49-F238E27FC236}">
                <a16:creationId xmlns:a16="http://schemas.microsoft.com/office/drawing/2014/main" id="{65271D50-96E8-0DF1-40BC-B79A35E6ABF7}"/>
              </a:ext>
            </a:extLst>
          </p:cNvPr>
          <p:cNvSpPr txBox="1"/>
          <p:nvPr/>
        </p:nvSpPr>
        <p:spPr>
          <a:xfrm>
            <a:off x="8177983" y="86637"/>
            <a:ext cx="2572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B132B"/>
                </a:solidFill>
                <a:latin typeface="Urbanist"/>
                <a:ea typeface="Urbanist"/>
                <a:cs typeface="Urbanist"/>
                <a:sym typeface="Urbanist"/>
              </a:rPr>
              <a:t>Extraversion</a:t>
            </a:r>
            <a:endParaRPr lang="en-US" dirty="0"/>
          </a:p>
        </p:txBody>
      </p:sp>
      <p:sp>
        <p:nvSpPr>
          <p:cNvPr id="12" name="Google Shape;143;p17">
            <a:extLst>
              <a:ext uri="{FF2B5EF4-FFF2-40B4-BE49-F238E27FC236}">
                <a16:creationId xmlns:a16="http://schemas.microsoft.com/office/drawing/2014/main" id="{4C98DB5E-9992-7FCB-2D04-9D73D59B6F4D}"/>
              </a:ext>
            </a:extLst>
          </p:cNvPr>
          <p:cNvSpPr txBox="1"/>
          <p:nvPr/>
        </p:nvSpPr>
        <p:spPr>
          <a:xfrm>
            <a:off x="2011715" y="2937428"/>
            <a:ext cx="2572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B132B"/>
                </a:solidFill>
                <a:latin typeface="Urbanist"/>
                <a:ea typeface="Urbanist"/>
                <a:cs typeface="Urbanist"/>
                <a:sym typeface="Urbanist"/>
              </a:rPr>
              <a:t>Agreeableness</a:t>
            </a:r>
            <a:endParaRPr lang="en-US" dirty="0"/>
          </a:p>
        </p:txBody>
      </p:sp>
      <p:sp>
        <p:nvSpPr>
          <p:cNvPr id="13" name="Google Shape;143;p17">
            <a:extLst>
              <a:ext uri="{FF2B5EF4-FFF2-40B4-BE49-F238E27FC236}">
                <a16:creationId xmlns:a16="http://schemas.microsoft.com/office/drawing/2014/main" id="{A6CC9AF2-989C-DEFE-728F-09B772DF9E96}"/>
              </a:ext>
            </a:extLst>
          </p:cNvPr>
          <p:cNvSpPr txBox="1"/>
          <p:nvPr/>
        </p:nvSpPr>
        <p:spPr>
          <a:xfrm>
            <a:off x="8302093" y="2823900"/>
            <a:ext cx="2572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B132B"/>
                </a:solidFill>
                <a:latin typeface="Urbanist"/>
                <a:ea typeface="Urbanist"/>
                <a:cs typeface="Urbanist"/>
                <a:sym typeface="Urbanist"/>
              </a:rPr>
              <a:t>Neuroticism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946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67867"/>
            <a:ext cx="5286375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467867"/>
            <a:ext cx="5286375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962025" y="3163192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1. Feature Engineering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962025" y="3696592"/>
            <a:ext cx="4505325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The 10 scaled scores for each trait (e.g., EXT1-EXT10) were averaged together. This condensed the 50 individual question columns into the 5 final features used for clustering: **Extraversion, Neuroticism, Agreeableness, Conscientiousness, and Openness**.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6724650" y="3163192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2. Clustering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6724650" y="3696592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The **K-Means** algorithm was then applied to this 5-feature dataset. The goal was to partition the 1 million participants into a small number of groups (*k*) based on their shared personality profiles.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571500" y="88761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B132B"/>
                </a:solidFill>
                <a:latin typeface="Urbanist"/>
                <a:ea typeface="Urbanist"/>
                <a:cs typeface="Urbanist"/>
                <a:sym typeface="Urbanist"/>
              </a:rPr>
              <a:t>Methodology: From 50 Questions to 3 Clusters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1123950" y="5880645"/>
            <a:ext cx="99441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The Elbow Method shows a sharp drop in inertia (sum of squared distances) until k=3. After this "elbow" point, the improvement flattens, indicating that **3** is the optimal number of clusters.</a:t>
            </a:r>
            <a:endParaRPr dirty="0"/>
          </a:p>
        </p:txBody>
      </p:sp>
      <p:sp>
        <p:nvSpPr>
          <p:cNvPr id="170" name="Google Shape;170;p19"/>
          <p:cNvSpPr txBox="1"/>
          <p:nvPr/>
        </p:nvSpPr>
        <p:spPr>
          <a:xfrm>
            <a:off x="571500" y="607665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B132B"/>
                </a:solidFill>
                <a:latin typeface="Urbanist"/>
                <a:ea typeface="Urbanist"/>
                <a:cs typeface="Urbanist"/>
                <a:sym typeface="Urbanist"/>
              </a:rPr>
              <a:t>Methodology: Finding the Optimal *k*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F070B6-0A81-0782-4C41-2914BD7762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286" y="1516685"/>
            <a:ext cx="9050917" cy="382462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C621763D-0425-DFA1-8FDA-31EE28B4D827}"/>
              </a:ext>
            </a:extLst>
          </p:cNvPr>
          <p:cNvSpPr/>
          <p:nvPr/>
        </p:nvSpPr>
        <p:spPr>
          <a:xfrm>
            <a:off x="3361927" y="3487861"/>
            <a:ext cx="136886" cy="16426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38008C-60DE-0327-6109-FD1167552955}"/>
              </a:ext>
            </a:extLst>
          </p:cNvPr>
          <p:cNvSpPr txBox="1"/>
          <p:nvPr/>
        </p:nvSpPr>
        <p:spPr>
          <a:xfrm>
            <a:off x="3498813" y="3333972"/>
            <a:ext cx="11553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K=3(Elbow)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25810"/>
            <a:ext cx="11049000" cy="456068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1123950" y="5568255"/>
            <a:ext cx="99441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Running K-Means with k=3 resulted in three distinct and well-balanced clusters, each representing a significant portion of the ~1 million participants.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571500" y="88761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B132B"/>
                </a:solidFill>
                <a:latin typeface="Urbanist"/>
                <a:ea typeface="Urbanist"/>
                <a:cs typeface="Urbanist"/>
                <a:sym typeface="Urbanist"/>
              </a:rPr>
              <a:t>Cluster Validation &amp; Distribution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D65E25-C23F-CFFB-9616-4C3140BD81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3446" y="1494799"/>
            <a:ext cx="5145097" cy="40734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1123950" y="5625405"/>
            <a:ext cx="99441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This chart shows the unique personality profile of each cluster based on their average trait scores. *Note: Data shown matches the project's final interpretation.*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5614987" y="4187130"/>
            <a:ext cx="9620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Cluster 0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5614987" y="4701480"/>
            <a:ext cx="9620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Cluster 1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5614987" y="5215830"/>
            <a:ext cx="9620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Cluster 2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571500" y="862905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B132B"/>
                </a:solidFill>
                <a:latin typeface="Urbanist"/>
                <a:ea typeface="Urbanist"/>
                <a:cs typeface="Urbanist"/>
                <a:sym typeface="Urbanist"/>
              </a:rPr>
              <a:t>Cluster Profiles: Mean Trait Scores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F857FF-31B7-B1E7-1AFC-458BD5984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6010" y="1389631"/>
            <a:ext cx="9235256" cy="42357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53517"/>
            <a:ext cx="3429000" cy="410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1953517"/>
            <a:ext cx="3429000" cy="410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1953517"/>
            <a:ext cx="3429000" cy="410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795813" y="3267967"/>
            <a:ext cx="2980372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B132B"/>
                </a:solidFill>
                <a:latin typeface="Urbanist"/>
                <a:ea typeface="Urbanist"/>
                <a:cs typeface="Urbanist"/>
                <a:sym typeface="Urbanist"/>
              </a:rPr>
              <a:t>Cluster 0: The Spontaneous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866775" y="4306192"/>
            <a:ext cx="283845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This group is defined by its **very low score in Conscientiousness**. They are easy-going, impulsive, and sometimes careless, while average in other traits.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4605813" y="3267967"/>
            <a:ext cx="2980372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B132B"/>
                </a:solidFill>
                <a:latin typeface="Urbanist"/>
                <a:ea typeface="Urbanist"/>
                <a:cs typeface="Urbanist"/>
                <a:sym typeface="Urbanist"/>
              </a:rPr>
              <a:t>Cluster 1: The Social &amp; Adventurous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4676775" y="4306192"/>
            <a:ext cx="283845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This group is defined by its **high scores in Extraversion and Openness**. They are energetic, curious, and thrive on social interaction and new experiences.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8415813" y="3267967"/>
            <a:ext cx="2980372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B132B"/>
                </a:solidFill>
                <a:latin typeface="Urbanist"/>
                <a:ea typeface="Urbanist"/>
                <a:cs typeface="Urbanist"/>
                <a:sym typeface="Urbanist"/>
              </a:rPr>
              <a:t>Cluster 2: The Dependable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8486775" y="4306192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This "stable and reliable" group has **high Agreeableness**, **high Conscientiousness**, and **very low Neuroticism** (emotionally secure).</a:t>
            </a:r>
            <a:endParaRPr/>
          </a:p>
        </p:txBody>
      </p:sp>
      <p:pic>
        <p:nvPicPr>
          <p:cNvPr id="204" name="Google Shape;204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85975" y="226784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0" y="226784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77400" y="226784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571500" y="88761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B132B"/>
                </a:solidFill>
                <a:latin typeface="Urbanist"/>
                <a:ea typeface="Urbanist"/>
                <a:cs typeface="Urbanist"/>
                <a:sym typeface="Urbanist"/>
              </a:rPr>
              <a:t>The Three Personality Profiles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3"/>
          <p:cNvSpPr txBox="1"/>
          <p:nvPr/>
        </p:nvSpPr>
        <p:spPr>
          <a:xfrm>
            <a:off x="6334125" y="2891730"/>
            <a:ext cx="555069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0B132B"/>
                </a:solidFill>
                <a:latin typeface="Urbanist"/>
                <a:ea typeface="Urbanist"/>
                <a:cs typeface="Urbanist"/>
                <a:sym typeface="Urbanist"/>
              </a:rPr>
              <a:t>Testing the Model</a:t>
            </a:r>
            <a:endParaRPr dirty="0"/>
          </a:p>
        </p:txBody>
      </p:sp>
      <p:sp>
        <p:nvSpPr>
          <p:cNvPr id="215" name="Google Shape;215;p23"/>
          <p:cNvSpPr txBox="1"/>
          <p:nvPr/>
        </p:nvSpPr>
        <p:spPr>
          <a:xfrm>
            <a:off x="6334125" y="3491805"/>
            <a:ext cx="528637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As a final test, I ran my own responses through the trained K-Means model.</a:t>
            </a:r>
            <a:endParaRPr dirty="0"/>
          </a:p>
        </p:txBody>
      </p:sp>
      <p:sp>
        <p:nvSpPr>
          <p:cNvPr id="216" name="Google Shape;216;p23"/>
          <p:cNvSpPr txBox="1"/>
          <p:nvPr/>
        </p:nvSpPr>
        <p:spPr>
          <a:xfrm>
            <a:off x="6334125" y="4177605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The model analyzed my 5 trait scores and assigned a cluster.</a:t>
            </a:r>
            <a:endParaRPr dirty="0"/>
          </a:p>
        </p:txBody>
      </p:sp>
      <p:sp>
        <p:nvSpPr>
          <p:cNvPr id="217" name="Google Shape;217;p23"/>
          <p:cNvSpPr txBox="1"/>
          <p:nvPr/>
        </p:nvSpPr>
        <p:spPr>
          <a:xfrm>
            <a:off x="6334125" y="4606230"/>
            <a:ext cx="52863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My Predicted Profile: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 dirty="0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 Cluster 1: The Social and Adventurous</a:t>
            </a:r>
            <a:endParaRPr dirty="0"/>
          </a:p>
        </p:txBody>
      </p:sp>
      <p:sp>
        <p:nvSpPr>
          <p:cNvPr id="219" name="Google Shape;219;p23"/>
          <p:cNvSpPr txBox="1"/>
          <p:nvPr/>
        </p:nvSpPr>
        <p:spPr>
          <a:xfrm>
            <a:off x="456516" y="86856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B132B"/>
                </a:solidFill>
                <a:latin typeface="Urbanist"/>
                <a:ea typeface="Urbanist"/>
                <a:cs typeface="Urbanist"/>
                <a:sym typeface="Urbanist"/>
              </a:rPr>
              <a:t>Applying the Model to a New Subject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A9EE28-173A-29B9-02DA-ECAB1B2A0798}"/>
              </a:ext>
            </a:extLst>
          </p:cNvPr>
          <p:cNvSpPr txBox="1"/>
          <p:nvPr/>
        </p:nvSpPr>
        <p:spPr>
          <a:xfrm>
            <a:off x="1648111" y="3616529"/>
            <a:ext cx="2836282" cy="307777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692</Words>
  <Application>Microsoft Office PowerPoint</Application>
  <PresentationFormat>Widescreen</PresentationFormat>
  <Paragraphs>66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Urbanist</vt:lpstr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Sushma Suresh</cp:lastModifiedBy>
  <cp:revision>2</cp:revision>
  <dcterms:modified xsi:type="dcterms:W3CDTF">2025-11-06T00:07:19Z</dcterms:modified>
</cp:coreProperties>
</file>